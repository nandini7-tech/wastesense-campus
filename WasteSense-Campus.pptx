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Geist" panose="020B0604020202020204" charset="0"/>
      <p:regular r:id="rId10"/>
    </p:embeddedFont>
    <p:embeddedFont>
      <p:font typeface="Noto Serif 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26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509290"/>
            <a:ext cx="10868745" cy="51707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6143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WasteSense Campus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661475" y="6127552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Responsible AI decision support for campus waste segregation — a lightweight, explainable prototype to guide instant disposal choices and measure sustainability impact.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661475" y="6294041"/>
            <a:ext cx="361643" cy="143470"/>
          </a:xfrm>
          <a:prstGeom prst="roundRect">
            <a:avLst>
              <a:gd name="adj" fmla="val 47429"/>
            </a:avLst>
          </a:prstGeom>
          <a:solidFill>
            <a:srgbClr val="CCFFEF"/>
          </a:solidFill>
          <a:ln/>
        </p:spPr>
      </p:sp>
      <p:sp>
        <p:nvSpPr>
          <p:cNvPr id="6" name="Text 3"/>
          <p:cNvSpPr/>
          <p:nvPr/>
        </p:nvSpPr>
        <p:spPr>
          <a:xfrm>
            <a:off x="718127" y="6322318"/>
            <a:ext cx="857923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SDG 12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1070345" y="6294041"/>
            <a:ext cx="341701" cy="143470"/>
          </a:xfrm>
          <a:prstGeom prst="roundRect">
            <a:avLst>
              <a:gd name="adj" fmla="val 47429"/>
            </a:avLst>
          </a:prstGeom>
          <a:noFill/>
          <a:ln w="6350">
            <a:solidFill>
              <a:srgbClr val="0067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6998" y="6322318"/>
            <a:ext cx="837981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SDG 11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1459273" y="6322318"/>
            <a:ext cx="858221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SDG 13</a:t>
            </a:r>
            <a:endParaRPr lang="en-US" sz="5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0D4E21-CF63-7D1D-FB43-1ADA433B2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5975" y="6187928"/>
            <a:ext cx="1417443" cy="6325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51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Problem &amp; Opportunity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91569"/>
            <a:ext cx="5203794" cy="294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23827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Problem Statement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722563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"How might we use AI to help campus community members identify common waste items and choose the correct disposal route so that hostel and classroom waste can become more sustainable?"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412124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Opportunity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4605536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Replace guesswork with instant, explainable guidance at the moment of decision to reduce contamination and support SDG 12 compliance.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E432C4-09D0-77EF-0A95-BF1981B6E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557" y="6153976"/>
            <a:ext cx="1417443" cy="6325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29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Solution Overview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01627"/>
            <a:ext cx="736582" cy="920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4290" y="1901627"/>
            <a:ext cx="156712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Item Classification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34290" y="2900859"/>
            <a:ext cx="1567121" cy="302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Accepts text or image filenames (e.g., "greasy pizza box") and maps items to streams: Recyclable, Organic, Hazardous, E‑Waste, General.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1901627"/>
            <a:ext cx="736582" cy="920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0461" y="1901627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Confidence &amp; Guardrails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10461" y="2605584"/>
            <a:ext cx="156722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Calculates confidence, flags contamination or ambiguity, and recommends safe fallback routes.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1901627"/>
            <a:ext cx="736582" cy="920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86730" y="1901627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RAG Policy Q&amp;A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186730" y="2605584"/>
            <a:ext cx="1567220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Retrieval-augmented responses grounded in campus policy with verifiable citations for local rules.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1901627"/>
            <a:ext cx="736582" cy="920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63000" y="1901627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Impact Estimator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963000" y="2605584"/>
            <a:ext cx="156722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Quantifies diverted CO2e and water proxies based on correct routing actions.</a:t>
            </a:r>
            <a:endParaRPr lang="en-US" sz="14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D2CAD5-7A7F-D1AE-5983-B07B1D05A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6610" y="6202158"/>
            <a:ext cx="1417443" cy="6325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Decision Flow (How it Works)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RAG &amp; Impact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Category Score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Contamination Check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Normalize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User Input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High-confidence results show recommended bin and explanation; low-confidence returns a caution and safer general route with escalation to facilities staff when needed.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6AFD93-7365-2FE6-E13D-36161FB7B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557" y="6192394"/>
            <a:ext cx="1417443" cy="6325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05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Prototype — Prompt &amp; Demo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25" y="1745059"/>
            <a:ext cx="4092671" cy="198467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25" y="3861991"/>
            <a:ext cx="4092671" cy="19846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76609" y="1417439"/>
            <a:ext cx="6359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System Prompt (summary)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176609" y="1820565"/>
            <a:ext cx="635986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 concise, objective, transparent. Flag food-soiled or ambiguous items and suggest safer non-recyclable routes. Align strictly with official campus guidelines. Never profile or prescribe punishments.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176609" y="2709366"/>
            <a:ext cx="6359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Sample I/O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609" y="3130550"/>
            <a:ext cx="6359862" cy="30256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A50461-1635-1330-693C-C04AEA11F7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1509" y="6223961"/>
            <a:ext cx="1420491" cy="6340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163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Impact &amp; Beneficiaries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85033"/>
            <a:ext cx="3496877" cy="1706662"/>
          </a:xfrm>
          <a:prstGeom prst="roundRect">
            <a:avLst>
              <a:gd name="adj" fmla="val 996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803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Students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089077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Eliminates disposal confusion, builds sustainable habits, provides zero-friction mobile guidance.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485033"/>
            <a:ext cx="3496877" cy="1706662"/>
          </a:xfrm>
          <a:prstGeom prst="roundRect">
            <a:avLst>
              <a:gd name="adj" fmla="val 996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6803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Cleaning &amp; Hostel Staff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089077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Reduces manual re-sorting, lowers health hazards, yields cleaner waste streams.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485033"/>
            <a:ext cx="3496877" cy="1706662"/>
          </a:xfrm>
          <a:prstGeom prst="roundRect">
            <a:avLst>
              <a:gd name="adj" fmla="val 996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6803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Campus Admin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089077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data for SDG 12 reporting, lower disposal costs, actionable campus metrics.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45154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B4A4A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473680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Expected pilot outcomes: 35–50% reduction in recyclable bin contamination; instant (&lt;3s) disposal advice; targeted signage informed by query analytics; verifiable SDG 12 metrics.</a:t>
            </a:r>
            <a:endParaRPr lang="en-US" sz="14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F645A20-575C-DAA5-1888-A373A4202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509" y="6219214"/>
            <a:ext cx="1420491" cy="634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498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Pilot Metrics &amp; Responsible AI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64357"/>
            <a:ext cx="5350237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35–50%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661475" y="2071291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Contamination Reduction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61475" y="2401094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Projected drop in recyclable bin contamination across pilot hostel blocks.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79884" y="1364357"/>
            <a:ext cx="5350336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&lt;3s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6179884" y="2071291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Query Resolution Speed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179884" y="2401094"/>
            <a:ext cx="535033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Average time to receive disposal advice.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1475" y="2984996"/>
            <a:ext cx="5350237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Top 5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61475" y="3691930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Confusion Index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1475" y="4021733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Identify most frequently queried items (e.g., tetra paks, coffee cups).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79884" y="2984996"/>
            <a:ext cx="5350336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CO2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6179884" y="3691930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Estimated Monthly Carbon Offset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179884" y="4021733"/>
            <a:ext cx="535033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Aggregate kg CO2e avoided through correct routing.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1475" y="4458692"/>
            <a:ext cx="1086874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Responsible AI Measures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61475" y="4909641"/>
            <a:ext cx="10868745" cy="1363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Fairness: Material-based recommendations only; no profiling.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Transparency: Confidence scores, explanations, and citations for policy answers.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Privacy: No personal or facial data stored; logs aggregated and anonymized.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Human-in-the-Loop: Escalates complex/hazardous cases to facilities staff.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Ethics: Non-punitive — avoids surveillance or shaming mechanisms.</a:t>
            </a:r>
            <a:endParaRPr lang="en-US" sz="12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D2FE6FC-72ED-BDCC-8518-186DB7158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509" y="6139980"/>
            <a:ext cx="1420491" cy="6340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478</Words>
  <Application>Microsoft Office PowerPoint</Application>
  <PresentationFormat>Widescreen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Geist</vt:lpstr>
      <vt:lpstr>Arial</vt:lpstr>
      <vt:lpstr>Noto Serif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Nandini Priyadarshini</cp:lastModifiedBy>
  <cp:revision>2</cp:revision>
  <dcterms:created xsi:type="dcterms:W3CDTF">2026-09-22T16:56:02Z</dcterms:created>
  <dcterms:modified xsi:type="dcterms:W3CDTF">2026-09-22T17:05:18Z</dcterms:modified>
</cp:coreProperties>
</file>