
<file path=[Content_Types].xml><?xml version="1.0" encoding="utf-8"?>
<Types xmlns="http://schemas.openxmlformats.org/package/2006/content-types">
  <Default Extension="xml" ContentType="application/vnd.openxmlformats-officedocument.extended-properties+xml"/>
  <Default Extension="png" ContentType="image/png"/>
  <Default Extension="jpeg" ContentType="image/jpeg"/>
  <Default Extension="fntdata" ContentType="application/x-fontdata"/>
  <Default Extension="rels" ContentType="application/vnd.openxmlformats-package.relationship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tableStyles.xml" ContentType="application/vnd.openxmlformats-officedocument.presentationml.tableStyles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officeDocument/2006/relationships/extended-properties" Target="/docProps/app.xml" Id="rId3" /><Relationship Type="http://schemas.openxmlformats.org/package/2006/relationships/metadata/core-properties" Target="/docProps/core.xml" Id="rId2" /><Relationship Type="http://schemas.openxmlformats.org/officeDocument/2006/relationships/officeDocument" Target="/ppt/presentation.xml" Id="rId1" 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embeddedFontLst>
    <p:embeddedFont>
      <p:font typeface="Geist" panose="020B0604020202020204" charset="0"/>
      <p:regular r:id="rId10"/>
    </p:embeddedFont>
    <p:embeddedFont>
      <p:font typeface="Noto Serif Bold" panose="020B0604020202020204" charset="0"/>
      <p:regular r:id="rId1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1" d="100"/>
          <a:sy n="51" d="100"/>
        </p:scale>
        <p:origin x="869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" Target="/ppt/slides/slide7.xml" Id="rId8" /><Relationship Type="http://schemas.openxmlformats.org/officeDocument/2006/relationships/viewProps" Target="/ppt/viewProps.xml" Id="rId13" /><Relationship Type="http://schemas.openxmlformats.org/officeDocument/2006/relationships/slide" Target="/ppt/slides/slide2.xml" Id="rId3" /><Relationship Type="http://schemas.openxmlformats.org/officeDocument/2006/relationships/slide" Target="/ppt/slides/slide6.xml" Id="rId7" /><Relationship Type="http://schemas.openxmlformats.org/officeDocument/2006/relationships/presProps" Target="/ppt/presProps.xml" Id="rId12" /><Relationship Type="http://schemas.openxmlformats.org/officeDocument/2006/relationships/slide" Target="/ppt/slides/slide1.xml" Id="rId2" /><Relationship Type="http://schemas.openxmlformats.org/officeDocument/2006/relationships/slideMaster" Target="/ppt/slideMasters/slideMaster1.xml" Id="rId1" /><Relationship Type="http://schemas.openxmlformats.org/officeDocument/2006/relationships/slide" Target="/ppt/slides/slide5.xml" Id="rId6" /><Relationship Type="http://schemas.openxmlformats.org/officeDocument/2006/relationships/font" Target="/ppt/fonts/font2.fntdata" Id="rId11" /><Relationship Type="http://schemas.openxmlformats.org/officeDocument/2006/relationships/slide" Target="/ppt/slides/slide4.xml" Id="rId5" /><Relationship Type="http://schemas.openxmlformats.org/officeDocument/2006/relationships/tableStyles" Target="/ppt/tableStyles.xml" Id="rId15" /><Relationship Type="http://schemas.openxmlformats.org/officeDocument/2006/relationships/font" Target="/ppt/fonts/font1.fntdata" Id="rId10" /><Relationship Type="http://schemas.openxmlformats.org/officeDocument/2006/relationships/slide" Target="/ppt/slides/slide3.xml" Id="rId4" /><Relationship Type="http://schemas.openxmlformats.org/officeDocument/2006/relationships/notesMaster" Target="/ppt/notesMasters/notesMaster1.xml" Id="rId9" /><Relationship Type="http://schemas.openxmlformats.org/officeDocument/2006/relationships/theme" Target="/ppt/theme/theme1.xml" Id="rId1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theme/theme2.xml" Id="rId1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22642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Id2" /><Relationship Type="http://schemas.openxmlformats.org/officeDocument/2006/relationships/notesMaster" Target="/ppt/notesMasters/notesMaster1.xml" Id="rId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Id2" /><Relationship Type="http://schemas.openxmlformats.org/officeDocument/2006/relationships/notesMaster" Target="/ppt/notesMasters/notesMaster1.xml" Id="rId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Id2" /><Relationship Type="http://schemas.openxmlformats.org/officeDocument/2006/relationships/notesMaster" Target="/ppt/notesMasters/notesMaster1.xml" Id="rId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Id2" /><Relationship Type="http://schemas.openxmlformats.org/officeDocument/2006/relationships/notesMaster" Target="/ppt/notesMasters/notesMaster1.xml" Id="rId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Id2" /><Relationship Type="http://schemas.openxmlformats.org/officeDocument/2006/relationships/notesMaster" Target="/ppt/notesMasters/notesMaster1.xml" Id="rId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Id2" /><Relationship Type="http://schemas.openxmlformats.org/officeDocument/2006/relationships/notesMaster" Target="/ppt/notesMasters/notesMaster1.xml" Id="rId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Id2" /><Relationship Type="http://schemas.openxmlformats.org/officeDocument/2006/relationships/notesMaster" Target="/ppt/notesMasters/notesMaster1.xml" Id="rId1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image" Target="/ppt/media/image1.jpeg" Id="rId2" /><Relationship Type="http://schemas.openxmlformats.org/officeDocument/2006/relationships/slideMaster" Target="/ppt/slideMasters/slideMaster1.xml" Id="rId1" /><Relationship Type="http://schemas.openxmlformats.org/officeDocument/2006/relationships/image" Target="/ppt/media/image2.png" Id="rId4" /><Relationship Type="http://schemas.openxmlformats.org/officeDocument/2006/relationships/hyperlink" Target="https://gamma.app/?utm_source=made-with-gamma" TargetMode="External" Id="rId3" /></Relationships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5F9F2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Id3" /><Relationship Type="http://schemas.openxmlformats.org/officeDocument/2006/relationships/slideLayout" Target="/ppt/slideLayouts/slideLayout2.xml" Id="rId2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image" Target="/ppt/media/image3.jpeg" Id="rId3" /><Relationship Type="http://schemas.openxmlformats.org/officeDocument/2006/relationships/notesSlide" Target="/ppt/notesSlides/notesSlide1.xml" Id="rId2" /><Relationship Type="http://schemas.openxmlformats.org/officeDocument/2006/relationships/slideLayout" Target="/ppt/slideLayouts/slideLayout2.xml" Id="rId1" /><Relationship Type="http://schemas.openxmlformats.org/officeDocument/2006/relationships/image" Target="/ppt/media/image4.png" Id="rId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image" Target="/ppt/media/image5.jpeg" Id="rId3" /><Relationship Type="http://schemas.openxmlformats.org/officeDocument/2006/relationships/notesSlide" Target="/ppt/notesSlides/notesSlide2.xml" Id="rId2" /><Relationship Type="http://schemas.openxmlformats.org/officeDocument/2006/relationships/slideLayout" Target="/ppt/slideLayouts/slideLayout2.xml" Id="rId1" /><Relationship Type="http://schemas.openxmlformats.org/officeDocument/2006/relationships/image" Target="/ppt/media/image4.png" Id="rId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image" Target="/ppt/media/image6.png" Id="rId3" /><Relationship Type="http://schemas.openxmlformats.org/officeDocument/2006/relationships/image" Target="/ppt/media/image4.png" Id="rId7" /><Relationship Type="http://schemas.openxmlformats.org/officeDocument/2006/relationships/notesSlide" Target="/ppt/notesSlides/notesSlide3.xml" Id="rId2" /><Relationship Type="http://schemas.openxmlformats.org/officeDocument/2006/relationships/slideLayout" Target="/ppt/slideLayouts/slideLayout2.xml" Id="rId1" /><Relationship Type="http://schemas.openxmlformats.org/officeDocument/2006/relationships/image" Target="/ppt/media/image9.png" Id="rId6" /><Relationship Type="http://schemas.openxmlformats.org/officeDocument/2006/relationships/image" Target="/ppt/media/image8.png" Id="rId5" /><Relationship Type="http://schemas.openxmlformats.org/officeDocument/2006/relationships/image" Target="/ppt/media/image7.png" Id="rId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image" Target="/ppt/media/image10.png" Id="rId3" /><Relationship Type="http://schemas.openxmlformats.org/officeDocument/2006/relationships/notesSlide" Target="/ppt/notesSlides/notesSlide4.xml" Id="rId2" /><Relationship Type="http://schemas.openxmlformats.org/officeDocument/2006/relationships/slideLayout" Target="/ppt/slideLayouts/slideLayout2.xml" Id="rId1" /><Relationship Type="http://schemas.openxmlformats.org/officeDocument/2006/relationships/image" Target="/ppt/media/image4.png" Id="rId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image" Target="/ppt/media/image11.jpeg" Id="rId3" /><Relationship Type="http://schemas.openxmlformats.org/officeDocument/2006/relationships/notesSlide" Target="/ppt/notesSlides/notesSlide5.xml" Id="rId2" /><Relationship Type="http://schemas.openxmlformats.org/officeDocument/2006/relationships/slideLayout" Target="/ppt/slideLayouts/slideLayout2.xml" Id="rId1" /><Relationship Type="http://schemas.openxmlformats.org/officeDocument/2006/relationships/image" Target="/ppt/media/image14.png" Id="rId6" /><Relationship Type="http://schemas.openxmlformats.org/officeDocument/2006/relationships/image" Target="/ppt/media/image13.jpeg" Id="rId5" /><Relationship Type="http://schemas.openxmlformats.org/officeDocument/2006/relationships/image" Target="/ppt/media/image12.jpeg" Id="rId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image" Target="/ppt/media/image14.png" Id="rId3" /><Relationship Type="http://schemas.openxmlformats.org/officeDocument/2006/relationships/notesSlide" Target="/ppt/notesSlides/notesSlide6.xml" Id="rId2" /><Relationship Type="http://schemas.openxmlformats.org/officeDocument/2006/relationships/slideLayout" Target="/ppt/slideLayouts/slideLayout2.xml" Id="rId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image" Target="/ppt/media/image14.png" Id="rId3" /><Relationship Type="http://schemas.openxmlformats.org/officeDocument/2006/relationships/notesSlide" Target="/ppt/notesSlides/notesSlide7.xml" Id="rId2" /><Relationship Type="http://schemas.openxmlformats.org/officeDocument/2006/relationships/slideLayout" Target="/ppt/slideLayouts/slideLayout2.xml" Id="rId1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4" y="509290"/>
            <a:ext cx="10868745" cy="517078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5761434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WasteSense Campus</a:t>
            </a:r>
            <a:endParaRPr lang="en-US" sz="1850" dirty="0"/>
          </a:p>
        </p:txBody>
      </p:sp>
      <p:sp>
        <p:nvSpPr>
          <p:cNvPr id="4" name="Text 1"/>
          <p:cNvSpPr/>
          <p:nvPr/>
        </p:nvSpPr>
        <p:spPr>
          <a:xfrm>
            <a:off x="661475" y="6127552"/>
            <a:ext cx="11478330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Responsible AI decision support for campus waste segregation — a lightweight, explainable prototype to guide instant disposal choices and measure sustainability impact.</a:t>
            </a:r>
            <a:endParaRPr lang="en-US" sz="700" dirty="0"/>
          </a:p>
        </p:txBody>
      </p:sp>
      <p:sp>
        <p:nvSpPr>
          <p:cNvPr id="5" name="Shape 2"/>
          <p:cNvSpPr/>
          <p:nvPr/>
        </p:nvSpPr>
        <p:spPr>
          <a:xfrm>
            <a:off x="661475" y="6294041"/>
            <a:ext cx="361643" cy="143470"/>
          </a:xfrm>
          <a:prstGeom prst="roundRect">
            <a:avLst>
              <a:gd name="adj" fmla="val 47429"/>
            </a:avLst>
          </a:prstGeom>
          <a:solidFill>
            <a:srgbClr val="CCFFEF"/>
          </a:solidFill>
          <a:ln/>
        </p:spPr>
      </p:sp>
      <p:sp>
        <p:nvSpPr>
          <p:cNvPr id="6" name="Text 3"/>
          <p:cNvSpPr/>
          <p:nvPr/>
        </p:nvSpPr>
        <p:spPr>
          <a:xfrm>
            <a:off x="718127" y="6322318"/>
            <a:ext cx="857923" cy="86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5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SDG 12</a:t>
            </a:r>
            <a:endParaRPr lang="en-US" sz="550" dirty="0"/>
          </a:p>
        </p:txBody>
      </p:sp>
      <p:sp>
        <p:nvSpPr>
          <p:cNvPr id="7" name="Shape 4"/>
          <p:cNvSpPr/>
          <p:nvPr/>
        </p:nvSpPr>
        <p:spPr>
          <a:xfrm>
            <a:off x="1070345" y="6294041"/>
            <a:ext cx="341701" cy="143470"/>
          </a:xfrm>
          <a:prstGeom prst="roundRect">
            <a:avLst>
              <a:gd name="adj" fmla="val 47429"/>
            </a:avLst>
          </a:prstGeom>
          <a:noFill/>
          <a:ln w="6350">
            <a:solidFill>
              <a:srgbClr val="00674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26998" y="6322318"/>
            <a:ext cx="837981" cy="86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550" dirty="0">
                <a:solidFill>
                  <a:srgbClr val="00674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SDG 11</a:t>
            </a:r>
            <a:endParaRPr lang="en-US" sz="550" dirty="0"/>
          </a:p>
        </p:txBody>
      </p:sp>
      <p:sp>
        <p:nvSpPr>
          <p:cNvPr id="9" name="Text 6"/>
          <p:cNvSpPr/>
          <p:nvPr/>
        </p:nvSpPr>
        <p:spPr>
          <a:xfrm>
            <a:off x="1459273" y="6322318"/>
            <a:ext cx="858221" cy="86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550" dirty="0">
                <a:solidFill>
                  <a:srgbClr val="00674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SDG 13</a:t>
            </a:r>
            <a:endParaRPr lang="en-US" sz="55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10D4E21-CF63-7D1D-FB43-1ADA433B2B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45975" y="6187928"/>
            <a:ext cx="1417443" cy="63251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75147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Problem &amp; Opportunity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391569"/>
            <a:ext cx="5203794" cy="29488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32776" y="2238276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Problem Statement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332776" y="2722563"/>
            <a:ext cx="5203794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"How might we use AI to help campus community members identify common waste items and choose the correct disposal route so that hostel and classroom waste can become more sustainable?"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6332776" y="4121249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Opportunity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6332776" y="4605536"/>
            <a:ext cx="520379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Replace guesswork with instant, explainable guidance at the moment of decision to reduce contamination and support SDG 12 compliance.</a:t>
            </a:r>
            <a:endParaRPr lang="en-US" sz="145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BE432C4-09D0-77EF-0A95-BF1981B6EA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74557" y="6153976"/>
            <a:ext cx="1417443" cy="63251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32954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AI Solution Overview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901627"/>
            <a:ext cx="736582" cy="9207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34290" y="1901627"/>
            <a:ext cx="1567121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Item Classification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1634290" y="2900859"/>
            <a:ext cx="1567121" cy="3024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Accepts text or image filenames (e.g., "greasy pizza box") and maps items to streams: Recyclable, Organic, Hazardous, E‑Waste, General.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7645" y="1901627"/>
            <a:ext cx="736582" cy="9207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410461" y="1901627"/>
            <a:ext cx="156722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Confidence &amp; Guardrails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4410461" y="2605584"/>
            <a:ext cx="1567220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Calculates confidence, flags contamination or ambiguity, and recommends safe fallback routes.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3915" y="1901627"/>
            <a:ext cx="736582" cy="9207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186730" y="1901627"/>
            <a:ext cx="156722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RAG Policy Q&amp;A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7186730" y="2605584"/>
            <a:ext cx="1567220" cy="2419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Retrieval-augmented responses grounded in campus policy with verifiable citations for local rules.</a:t>
            </a:r>
            <a:endParaRPr lang="en-US" sz="14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90184" y="1901627"/>
            <a:ext cx="736582" cy="92075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963000" y="1901627"/>
            <a:ext cx="156722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Impact Estimator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9963000" y="2605584"/>
            <a:ext cx="1567220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Quantifies diverted CO2e and water proxies based on correct routing actions.</a:t>
            </a:r>
            <a:endParaRPr lang="en-US" sz="145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8D2CAD5-7A7F-D1AE-5983-B07B1D05A15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46610" y="6202158"/>
            <a:ext cx="1417443" cy="63251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197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Decision Flow (How it Works)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500" y="1530648"/>
            <a:ext cx="10520595" cy="39479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36045" y="4367325"/>
            <a:ext cx="1586822" cy="611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RAG &amp; Impact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7336215" y="4367325"/>
            <a:ext cx="1586822" cy="611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Category Score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5347253" y="4367325"/>
            <a:ext cx="1586822" cy="611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Contamination Check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3358291" y="4520169"/>
            <a:ext cx="1586822" cy="30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Normalize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325854" y="4520169"/>
            <a:ext cx="1586822" cy="30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User Input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661475" y="5691188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High-confidence results show recommended bin and explanation; low-confidence returns a caution and safer general route with escalation to facilities staff when needed.</a:t>
            </a:r>
            <a:endParaRPr lang="en-US" sz="145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86AFD93-7365-2FE6-E13D-36161FB7B0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74557" y="6192394"/>
            <a:ext cx="1417443" cy="63251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9055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Prototype — Prompt &amp; Demo</a:t>
            </a:r>
            <a:endParaRPr lang="en-US" sz="32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825" y="1745059"/>
            <a:ext cx="4092671" cy="1984673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825" y="3861991"/>
            <a:ext cx="4092671" cy="198467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176609" y="1417439"/>
            <a:ext cx="6359862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System Prompt (summary)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5176609" y="1820565"/>
            <a:ext cx="6359862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Be concise, objective, transparent. Flag food-soiled or ambiguous items and suggest safer non-recyclable routes. Align strictly with official campus guidelines. Never profile or prescribe punishments.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5176609" y="2709366"/>
            <a:ext cx="6359862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Sample I/O</a:t>
            </a:r>
            <a:endParaRPr lang="en-US" sz="16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76609" y="3130550"/>
            <a:ext cx="6359862" cy="302567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FA50461-1635-1330-693C-C04AEA11F78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71509" y="6223961"/>
            <a:ext cx="1420491" cy="63403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516360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Impact &amp; Beneficiaries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2485033"/>
            <a:ext cx="3496877" cy="1706662"/>
          </a:xfrm>
          <a:prstGeom prst="roundRect">
            <a:avLst>
              <a:gd name="adj" fmla="val 9968"/>
            </a:avLst>
          </a:prstGeom>
          <a:solidFill>
            <a:srgbClr val="D1EFE4"/>
          </a:solidFill>
          <a:ln w="6350">
            <a:solidFill>
              <a:srgbClr val="B7D5C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6832" y="2680395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Students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56832" y="3089077"/>
            <a:ext cx="310616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Eliminates disposal confusion, builds sustainable habits, provides zero-friction mobile guidance.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4347359" y="2485033"/>
            <a:ext cx="3496877" cy="1706662"/>
          </a:xfrm>
          <a:prstGeom prst="roundRect">
            <a:avLst>
              <a:gd name="adj" fmla="val 9968"/>
            </a:avLst>
          </a:prstGeom>
          <a:solidFill>
            <a:srgbClr val="D1EFE4"/>
          </a:solidFill>
          <a:ln w="6350">
            <a:solidFill>
              <a:srgbClr val="B7D5C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42716" y="2680395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Cleaning &amp; Hostel Staff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4542716" y="3089077"/>
            <a:ext cx="310616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Reduces manual re-sorting, lowers health hazards, yields cleaner waste streams.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033244" y="2485033"/>
            <a:ext cx="3496877" cy="1706662"/>
          </a:xfrm>
          <a:prstGeom prst="roundRect">
            <a:avLst>
              <a:gd name="adj" fmla="val 9968"/>
            </a:avLst>
          </a:prstGeom>
          <a:solidFill>
            <a:srgbClr val="D1EFE4"/>
          </a:solidFill>
          <a:ln w="6350">
            <a:solidFill>
              <a:srgbClr val="B7D5C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8600" y="2680395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Campus Admin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8228600" y="3089077"/>
            <a:ext cx="310616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Automated data for SDG 12 reporting, lower disposal costs, actionable campus metrics.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61475" y="4451548"/>
            <a:ext cx="10868745" cy="25400"/>
          </a:xfrm>
          <a:prstGeom prst="roundRect">
            <a:avLst>
              <a:gd name="adj" fmla="val 49999"/>
            </a:avLst>
          </a:prstGeom>
          <a:solidFill>
            <a:srgbClr val="4B4A4A">
              <a:alpha val="5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661475" y="4736802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Expected pilot outcomes: 35–50% reduction in recyclable bin contamination; instant (&lt;3s) disposal advice; targeted signage informed by query analytics; verifiable SDG 12 metrics.</a:t>
            </a:r>
            <a:endParaRPr lang="en-US" sz="145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F645A20-575C-DAA5-1888-A373A42022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1509" y="6219214"/>
            <a:ext cx="1420491" cy="63403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84498"/>
            <a:ext cx="10868745" cy="498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0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Pilot Metrics &amp; Responsible AI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661475" y="1364357"/>
            <a:ext cx="5350237" cy="526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10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35–50%</a:t>
            </a:r>
            <a:endParaRPr lang="en-US" sz="4100" dirty="0"/>
          </a:p>
        </p:txBody>
      </p:sp>
      <p:sp>
        <p:nvSpPr>
          <p:cNvPr id="4" name="Text 2"/>
          <p:cNvSpPr/>
          <p:nvPr/>
        </p:nvSpPr>
        <p:spPr>
          <a:xfrm>
            <a:off x="661475" y="2071291"/>
            <a:ext cx="5350237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Contamination Reduction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661475" y="2401094"/>
            <a:ext cx="5350237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3000"/>
              </a:lnSpc>
              <a:buNone/>
            </a:pPr>
            <a:r>
              <a:rPr lang="en-US" sz="12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Projected drop in recyclable bin contamination across pilot hostel blocks.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179884" y="1364357"/>
            <a:ext cx="5350336" cy="526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10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&lt;3s</a:t>
            </a:r>
            <a:endParaRPr lang="en-US" sz="4100" dirty="0"/>
          </a:p>
        </p:txBody>
      </p:sp>
      <p:sp>
        <p:nvSpPr>
          <p:cNvPr id="7" name="Text 5"/>
          <p:cNvSpPr/>
          <p:nvPr/>
        </p:nvSpPr>
        <p:spPr>
          <a:xfrm>
            <a:off x="6179884" y="2071291"/>
            <a:ext cx="5350336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Query Resolution Speed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6179884" y="2401094"/>
            <a:ext cx="5350336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3000"/>
              </a:lnSpc>
              <a:buNone/>
            </a:pPr>
            <a:r>
              <a:rPr lang="en-US" sz="12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Average time to receive disposal advice.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61475" y="2984996"/>
            <a:ext cx="5350237" cy="526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10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Top 5</a:t>
            </a:r>
            <a:endParaRPr lang="en-US" sz="4100" dirty="0"/>
          </a:p>
        </p:txBody>
      </p:sp>
      <p:sp>
        <p:nvSpPr>
          <p:cNvPr id="10" name="Text 8"/>
          <p:cNvSpPr/>
          <p:nvPr/>
        </p:nvSpPr>
        <p:spPr>
          <a:xfrm>
            <a:off x="661475" y="3691930"/>
            <a:ext cx="5350237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Confusion Index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661475" y="4021733"/>
            <a:ext cx="5350237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3000"/>
              </a:lnSpc>
              <a:buNone/>
            </a:pPr>
            <a:r>
              <a:rPr lang="en-US" sz="12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Identify most frequently queried items (e.g., tetra paks, coffee cups).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179884" y="2984996"/>
            <a:ext cx="5350336" cy="526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10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CO2</a:t>
            </a:r>
            <a:endParaRPr lang="en-US" sz="4100" dirty="0"/>
          </a:p>
        </p:txBody>
      </p:sp>
      <p:sp>
        <p:nvSpPr>
          <p:cNvPr id="13" name="Text 11"/>
          <p:cNvSpPr/>
          <p:nvPr/>
        </p:nvSpPr>
        <p:spPr>
          <a:xfrm>
            <a:off x="6179884" y="3691930"/>
            <a:ext cx="5350336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Estimated Monthly Carbon Offset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6179884" y="4021733"/>
            <a:ext cx="5350336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3000"/>
              </a:lnSpc>
              <a:buNone/>
            </a:pPr>
            <a:r>
              <a:rPr lang="en-US" sz="12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Aggregate kg CO2e avoided through correct routing.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61475" y="4458692"/>
            <a:ext cx="10868745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Responsible AI Measures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661475" y="4909641"/>
            <a:ext cx="10868745" cy="13638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54000" indent="-254000" algn="l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Fairness: Material-based recommendations only; no profiling.</a:t>
            </a:r>
            <a:endParaRPr lang="en-US" sz="1250" dirty="0"/>
          </a:p>
          <a:p>
            <a:pPr marL="254000" indent="-254000" algn="l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Transparency: Confidence scores, explanations, and citations for policy answers.</a:t>
            </a:r>
            <a:endParaRPr lang="en-US" sz="1250" dirty="0"/>
          </a:p>
          <a:p>
            <a:pPr marL="254000" indent="-254000" algn="l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Privacy: No personal or facial data stored; logs aggregated and anonymized.</a:t>
            </a:r>
            <a:endParaRPr lang="en-US" sz="1250" dirty="0"/>
          </a:p>
          <a:p>
            <a:pPr marL="254000" indent="-254000" algn="l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Human-in-the-Loop: Escalates complex/hazardous cases to facilities staff.</a:t>
            </a:r>
            <a:endParaRPr lang="en-US" sz="1250" dirty="0"/>
          </a:p>
          <a:p>
            <a:pPr marL="254000" indent="-254000" algn="l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Ethics: Non-punitive — avoids surveillance or shaming mechanisms.</a:t>
            </a:r>
            <a:endParaRPr lang="en-US" sz="125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D2FE6FC-72ED-BDCC-8518-186DB7158E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1509" y="6139980"/>
            <a:ext cx="1420491" cy="63403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478</Words>
  <Application>Microsoft Office PowerPoint</Application>
  <PresentationFormat>Widescreen</PresentationFormat>
  <Paragraphs>64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Noto Serif Bold</vt:lpstr>
      <vt:lpstr>Arial</vt:lpstr>
      <vt:lpstr>Geist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Nandini Priyadarshini</cp:lastModifiedBy>
  <cp:revision>2</cp:revision>
  <dcterms:created xsi:type="dcterms:W3CDTF">2026-09-22T16:56:02Z</dcterms:created>
  <dcterms:modified xsi:type="dcterms:W3CDTF">2026-09-22T17:08:53Z</dcterms:modified>
</cp:coreProperties>
</file>